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1874520"/>
            <a:ext cx="10622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84800" y="2724912"/>
            <a:ext cx="1062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LangGraph 的法律智能体系统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4800" y="3090672"/>
            <a:ext cx="1062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毕设开题答辩 · 可追溯 · 可验收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84800" y="3419856"/>
            <a:ext cx="761184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4800" y="3483864"/>
            <a:ext cx="581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25184" y="3419856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5184" y="3483864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6384" y="3419856"/>
            <a:ext cx="541728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6384" y="3483864"/>
            <a:ext cx="361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57312" y="3419856"/>
            <a:ext cx="761184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47312" y="3483864"/>
            <a:ext cx="581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97696" y="3419856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7696" y="3483864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4800" y="3840480"/>
            <a:ext cx="3657600" cy="0"/>
          </a:xfrm>
          <a:prstGeom prst="line">
            <a:avLst/>
          </a:prstGeom>
          <a:noFill/>
          <a:ln w="12700">
            <a:solidFill>
              <a:srgbClr val="1D1D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800" y="411480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姓名：__________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学号：__________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学院/专业：__________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指导教师：__________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日期：____年__月__日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proposal_final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一句话概览：把法律咨询做成“可追溯服务”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编排 + RAG 引用 + 工具链 → 建议 / 风险提示 / 证据链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10620000" cy="10972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800" y="2441448"/>
            <a:ext cx="1033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目标：让用户在 3 分钟内得到“可执行的下一步”，并能回放与评测每一次咨询。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84800" y="3520440"/>
            <a:ext cx="3420000" cy="29260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800" y="364644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28800" y="3916440"/>
            <a:ext cx="3132000" cy="242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风险点难识别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资料分散、检索成本高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咨询结果难复现/难验收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4800" y="3520440"/>
            <a:ext cx="3420000" cy="29260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8800" y="364644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28800" y="3916440"/>
            <a:ext cx="3132000" cy="242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把咨询拆成流程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给出引用来源（Vectorize）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工具链处理文件/OCR/文档（R2）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84800" y="3520440"/>
            <a:ext cx="3420000" cy="29260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800" y="364644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28800" y="3916440"/>
            <a:ext cx="3132000" cy="242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结构化建议 + 风险提示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明确边界与不确定性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可回放、可评测、可改进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proposal_final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研究背景：法律咨询的三类难题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成本、风险、检索 —— 三个问题都指向“工程化与可追溯”。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94560"/>
            <a:ext cx="3420000" cy="32918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800" y="232056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成本与门槛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28800" y="2590560"/>
            <a:ext cx="3132000" cy="278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咨询成本高且不透明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普通用户缺乏判断标准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需要低门槛的“第一步建议”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4800" y="2194560"/>
            <a:ext cx="3420000" cy="32918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8800" y="232056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风险与责任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8800" y="2590560"/>
            <a:ext cx="3132000" cy="278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条款晦涩、风险点隐藏深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错误建议后果严重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必须显式边界与风险提示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984800" y="2194560"/>
            <a:ext cx="3420000" cy="32918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800" y="232056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检索碎片化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28800" y="2590560"/>
            <a:ext cx="3132000" cy="278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法规/案例/流程分散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语境难对齐、检索成本高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需要可扩展知识挂载（RAG）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84800" y="5715000"/>
            <a:ext cx="10622095" cy="68580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800" y="5870448"/>
            <a:ext cx="10334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机会点：用可追溯流程降低不确定性，把“风险”显式化并纳入验收口径。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proposal_final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&amp;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研究目标与范围：先做可验收的 MVP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开题阶段只做关键链路：登录 → 咨询 → 引用 → 工具 → 评测。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70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84800" y="2148840"/>
            <a:ext cx="34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800" y="2331720"/>
            <a:ext cx="67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目标（开题阶段可演示）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28800" y="2788920"/>
            <a:ext cx="673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鉴权与权限边界（邮箱验证码 + JWT）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对话咨询（支持流式输出）与会话管理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RAG 检索引用（Vectorize）与知识库挂载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工具能力：文件解析/OCR、文档生成与存储（R2）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评测指标定义：引用准确、拒答边界、延迟与稳定性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8800" y="5486400"/>
            <a:ext cx="67320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8800" y="5605272"/>
            <a:ext cx="673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非目标（明确不做）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8800" y="5879592"/>
            <a:ext cx="673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不替代律师，不提供最终法律意见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不承诺覆盖全部法律领域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不追求复杂动画与花哨特效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10800" y="2331720"/>
            <a:ext cx="316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开题交付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10800" y="2834640"/>
            <a:ext cx="3168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可跑通端到端 Demo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可上传文档并可检索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可复现实验与评测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论文结构与计划确定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proposal_final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关键约束：合规、安全、引用可追溯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把风险显式化：先保证“可靠与可控”，再谈“更聪明”。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5220000" cy="21488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800" y="2274840"/>
            <a:ext cx="49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边界与免责声明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28800" y="2544840"/>
            <a:ext cx="4932000" cy="164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明确不构成法律意见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鼓励用户补充证据材料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对高风险问题优先提示咨询律师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84800" y="2148840"/>
            <a:ext cx="5220000" cy="21488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8800" y="2274840"/>
            <a:ext cx="49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引用与证据链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28800" y="2544840"/>
            <a:ext cx="4932000" cy="164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回答尽量附引用来源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无法引用则明确不确定性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引用格式可验收（便于复查）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84800" y="4526280"/>
            <a:ext cx="5220000" cy="210312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800" y="4652280"/>
            <a:ext cx="49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隐私与数据安全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8800" y="4922280"/>
            <a:ext cx="4932000" cy="159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合同/文件可能含敏感信息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最小化存储与必要脱敏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对象存储与向量库分权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84800" y="4526280"/>
            <a:ext cx="5220000" cy="210312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8800" y="4652280"/>
            <a:ext cx="49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稳定与降级策略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28800" y="4922280"/>
            <a:ext cx="4932000" cy="159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超时/重试/限流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上游不可用时降级输出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关键路径可测试、可回放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proposal_final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系统架构：Web → Java → FastAPI → LangGraph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把鉴权、会话、资源管理放在 Java；把智能编排与检索放在 Agent。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106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4800" y="2377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前端层（Next.js）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4800" y="2834640"/>
            <a:ext cx="1026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/ SSE 流式展示 / 用户交互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8800" y="3268980"/>
            <a:ext cx="103320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800" y="34975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服务层（Spring Boot）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4800" y="3954780"/>
            <a:ext cx="1026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鉴权（验证码+JWT）/ 会话 / 文件接口 / 网关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8800" y="4389120"/>
            <a:ext cx="103320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80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智能体层（FastAPI）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4800" y="5074920"/>
            <a:ext cx="1026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编排 / 工具调用 / 质量控制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8800" y="5509260"/>
            <a:ext cx="103320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800" y="57378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4800" y="6195060"/>
            <a:ext cx="1026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关系库（用户/会话）/ Vectorize（RAG）/ R2（文件）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4800" y="6108192"/>
            <a:ext cx="541728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4800" y="6172200"/>
            <a:ext cx="361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05728" y="6108192"/>
            <a:ext cx="98064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95728" y="6172200"/>
            <a:ext cx="80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5568" y="6108192"/>
            <a:ext cx="541728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55568" y="6172200"/>
            <a:ext cx="361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86496" y="6108192"/>
            <a:ext cx="761184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6496" y="6172200"/>
            <a:ext cx="581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26880" y="6108192"/>
            <a:ext cx="761184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16880" y="6172200"/>
            <a:ext cx="581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67264" y="6108192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7264" y="6172200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proposal_final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智能体工作流：检索—推理—生成—引用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工具调用优先：先取证，再组织答案与风险提示。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286000"/>
            <a:ext cx="10620000" cy="42976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800" y="2697480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8800" y="2761488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输入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12800" y="2743200"/>
            <a:ext cx="96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 / 合同条款 / 文件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4800" y="3026664"/>
            <a:ext cx="0" cy="65836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8800" y="3355848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8800" y="3419856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解析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12800" y="3401568"/>
            <a:ext cx="96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 + 约束与边界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4800" y="3685032"/>
            <a:ext cx="0" cy="65836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800" y="4014216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8800" y="4078224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取证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12800" y="4059936"/>
            <a:ext cx="96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检索（Vectorize）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4800" y="4343400"/>
            <a:ext cx="0" cy="65836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800" y="4672584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8800" y="4736592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工具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12800" y="4718304"/>
            <a:ext cx="96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/ 文档生成 / 知识库管理（可选）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4800" y="5001768"/>
            <a:ext cx="0" cy="65836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800" y="5330952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8800" y="5394960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生成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12800" y="5376672"/>
            <a:ext cx="96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+ 风险提示 + 引用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54800" y="5660136"/>
            <a:ext cx="0" cy="65836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800" y="5989320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8800" y="6053328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输出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12800" y="6035040"/>
            <a:ext cx="96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结构化呈现 + 明确不确定性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8800" y="5897880"/>
            <a:ext cx="10332000" cy="82296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800" y="6126480"/>
            <a:ext cx="1015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失败/降级：检索为空 → 明确不确定性并引导补充材料；上游不可用 → 降级输出与重试。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proposal_final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知识库构建：文档入库到可检索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 存原文，Vectorize 存向量；两者用文档 ID 关联。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106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800" y="2971800"/>
            <a:ext cx="1572000" cy="150876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0240" y="3200400"/>
            <a:ext cx="1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0240" y="3657600"/>
            <a:ext cx="1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PDF/图片/文档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46520" y="3566160"/>
            <a:ext cx="256032" cy="320040"/>
          </a:xfrm>
          <a:prstGeom prst="rightArrow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80800" y="2971800"/>
            <a:ext cx="1572000" cy="150876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2240" y="3200400"/>
            <a:ext cx="1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72240" y="3657600"/>
            <a:ext cx="1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 原文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8520" y="3566160"/>
            <a:ext cx="256032" cy="320040"/>
          </a:xfrm>
          <a:prstGeom prst="rightArrow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2800" y="2971800"/>
            <a:ext cx="1572000" cy="150876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4240" y="3200400"/>
            <a:ext cx="1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4240" y="3657600"/>
            <a:ext cx="1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OCR/提取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50520" y="3566160"/>
            <a:ext cx="256032" cy="320040"/>
          </a:xfrm>
          <a:prstGeom prst="rightArrow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4800" y="2971800"/>
            <a:ext cx="1572000" cy="150876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6240" y="3200400"/>
            <a:ext cx="1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76240" y="3657600"/>
            <a:ext cx="1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02520" y="3566160"/>
            <a:ext cx="256032" cy="320040"/>
          </a:xfrm>
          <a:prstGeom prst="rightArrow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36800" y="2971800"/>
            <a:ext cx="1572000" cy="150876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240" y="3200400"/>
            <a:ext cx="1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28240" y="3657600"/>
            <a:ext cx="1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54520" y="3566160"/>
            <a:ext cx="256032" cy="320040"/>
          </a:xfrm>
          <a:prstGeom prst="rightArrow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88800" y="2971800"/>
            <a:ext cx="1572000" cy="150876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0240" y="3200400"/>
            <a:ext cx="1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780240" y="3657600"/>
            <a:ext cx="1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Vectorize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8800" y="4892040"/>
            <a:ext cx="1033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要点：支持增量更新；检索引用与原文可回溯；知识库可扩展（按领域/标签）。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proposal_final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评测设计：正确性、引用、鲁棒性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开题阶段先把指标定义清楚，确保后续可验收。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34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800" y="227484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28800" y="2544840"/>
            <a:ext cx="3132000" cy="3976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引用准确率（可复查）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边界/拒答覆盖率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检索召回与相关性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延迟与成功率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4800" y="2148840"/>
            <a:ext cx="34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8800" y="227484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8800" y="2544840"/>
            <a:ext cx="3132000" cy="3976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合同条款风险识别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常见咨询问答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材料缺失/冲突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文件解析与引用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984800" y="2148840"/>
            <a:ext cx="34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800" y="227484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对比/消融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28800" y="2544840"/>
            <a:ext cx="3132000" cy="3976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RAG vs 有 RAG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不同分块策略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工具调用开关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不同模型/降级策略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proposal_final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计划与预期成果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可演示 Demo + 可复现实验 + 可写入论文。  Q&amp;A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70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800" y="2377440"/>
            <a:ext cx="67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里程碑（按周推进）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28800" y="2788920"/>
            <a:ext cx="972000" cy="214884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800" y="2907792"/>
            <a:ext cx="9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1952" y="3246120"/>
            <a:ext cx="8256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需求/边界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大纲与接口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0800" y="2788920"/>
            <a:ext cx="972000" cy="214884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0800" y="2907792"/>
            <a:ext cx="9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53952" y="3246120"/>
            <a:ext cx="8256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鉴权/会话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端到端链路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32800" y="2788920"/>
            <a:ext cx="972000" cy="214884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2800" y="2907792"/>
            <a:ext cx="9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05952" y="3246120"/>
            <a:ext cx="8256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接入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流式咨询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4800" y="2788920"/>
            <a:ext cx="972000" cy="214884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4800" y="2907792"/>
            <a:ext cx="9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57952" y="3246120"/>
            <a:ext cx="8256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知识库入库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引用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6800" y="2788920"/>
            <a:ext cx="972000" cy="214884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6800" y="2907792"/>
            <a:ext cx="9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09952" y="3246120"/>
            <a:ext cx="8256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评测/消融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稳定与降级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88800" y="2788920"/>
            <a:ext cx="972000" cy="214884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8800" y="2907792"/>
            <a:ext cx="9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1952" y="3246120"/>
            <a:ext cx="82569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打磨演示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论文撰写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8800" y="5074920"/>
            <a:ext cx="67320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8800" y="5212080"/>
            <a:ext cx="67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预期成果（答辩口径）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8800" y="5577840"/>
            <a:ext cx="673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可运行系统与演示视频（可选）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可上传/检索/引用的知识库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评测报告（指标 + 消融）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论文与开源说明文档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84800" y="2148840"/>
            <a:ext cx="3420000" cy="448056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84800" y="3383280"/>
            <a:ext cx="342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proposal_final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Equivocal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Equivocal Legal 毕设开题答辩（Apple Monochrome Minimal）</dc:title>
  <dc:subject>毕设开题答辩（法律智能体 · Apple 黑白极简 · Strict Light Mode）</dc:subject>
  <dc:creator>Equivocal Legal</dc:creator>
  <cp:lastModifiedBy>Equivocal Legal</cp:lastModifiedBy>
  <cp:revision>1</cp:revision>
  <dcterms:created xsi:type="dcterms:W3CDTF">2026-01-12T04:27:46Z</dcterms:created>
  <dcterms:modified xsi:type="dcterms:W3CDTF">2026-01-12T04:27:46Z</dcterms:modified>
</cp:coreProperties>
</file>