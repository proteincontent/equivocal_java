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486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1920240" y="-1645920"/>
            <a:ext cx="5669280" cy="5669280"/>
          </a:xfrm>
          <a:prstGeom prst="ellipse">
            <a:avLst/>
          </a:prstGeom>
          <a:solidFill>
            <a:srgbClr val="2D6BFF">
              <a:alpha val="8000"/>
            </a:srgbClr>
          </a:solidFill>
          <a:ln w="12700">
            <a:solidFill>
              <a:srgbClr val="2D6B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solidFill>
            <a:srgbClr val="6A5CFF">
              <a:alpha val="7000"/>
            </a:srgbClr>
          </a:solidFill>
          <a:ln w="12700">
            <a:solidFill>
              <a:srgbClr val="6A5CFF">
                <a:alpha val="7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 // EQUIVOCAL_LEGAL // PROPOSAL_DEFENSE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01/10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502920"/>
            <a:ext cx="3291840" cy="329184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" y="5669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LIGHT_MODE // LAUNCH_STYLE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" y="196596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EQUIVOCAL LEGAL</a:t>
            </a:r>
            <a:endParaRPr lang="en-US" sz="5400" dirty="0"/>
          </a:p>
        </p:txBody>
      </p:sp>
      <p:sp>
        <p:nvSpPr>
          <p:cNvPr id="46" name="Text 44"/>
          <p:cNvSpPr/>
          <p:nvPr/>
        </p:nvSpPr>
        <p:spPr>
          <a:xfrm>
            <a:off x="822960" y="27889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法律智能体系统 · 开题答辩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22960" y="32461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系统工程实现主线：可控、可追溯、可验收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960" y="3794760"/>
            <a:ext cx="3657600" cy="0"/>
          </a:xfrm>
          <a:prstGeom prst="line">
            <a:avLst/>
          </a:prstGeom>
          <a:noFill/>
          <a:ln w="50800">
            <a:solidFill>
              <a:srgbClr val="00C2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16052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学院/专业：__________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日期：____年__月__日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2960" y="647395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SYSTEM_STATUS: ONLINE  //  VERSION: v2.0  //  CN_REGION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// EQUIVOCAL_LEGAL // PROPOSAL_DEFENSE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02/10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为什么需要法律智能体：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成本高、风险大、检索难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开题阶段重点：把咨询链路工程化，让结果可追溯、可验收。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04288"/>
            <a:ext cx="2377440" cy="0"/>
          </a:xfrm>
          <a:prstGeom prst="line">
            <a:avLst/>
          </a:prstGeom>
          <a:noFill/>
          <a:ln w="63500">
            <a:solidFill>
              <a:srgbClr val="2D6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304288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65615" y="1481328"/>
            <a:ext cx="2898648" cy="329184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1919" y="1545336"/>
            <a:ext cx="2624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BRIGHT_PROJECTOR_READY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321045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331720"/>
            <a:ext cx="73152" cy="297180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514600"/>
            <a:ext cx="2890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成本不可控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4128" y="2926080"/>
            <a:ext cx="289041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咨询成本高且不透明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普通用户缺乏入口与判断标准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需要更低门槛的“第一步建议”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0618" y="2331720"/>
            <a:ext cx="321045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0618" y="2331720"/>
            <a:ext cx="73152" cy="2971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1786" y="2514600"/>
            <a:ext cx="2890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风险难识别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1786" y="2926080"/>
            <a:ext cx="289041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合同条款晦涩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风险点隐藏深、后果严肃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需要结构化风险提示与边界声明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58277" y="2331720"/>
            <a:ext cx="321045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8277" y="2331720"/>
            <a:ext cx="73152" cy="2971800"/>
          </a:xfrm>
          <a:prstGeom prst="rect">
            <a:avLst/>
          </a:prstGeom>
          <a:solidFill>
            <a:srgbClr val="6A5CFF"/>
          </a:solidFill>
          <a:ln w="12700">
            <a:solidFill>
              <a:srgbClr val="6A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9445" y="2514600"/>
            <a:ext cx="2890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检索碎片化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9445" y="2926080"/>
            <a:ext cx="289041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法规/案例/流程分散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语境难对齐、检索成本高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需要可扩展的知识挂载（RAG）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623560"/>
            <a:ext cx="10545775" cy="68580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788152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机会点：让用户在 3 分钟内得到“可执行的下一步”，并把对话沉淀为可追溯记录。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&amp; SCOPE // EQUIVOCAL_LEGAL // PROPOSAL_DEFENSE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03/10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目标与边界：先把“能用且可验收”做出来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系统工程口径：每个功能都要可追溯、可回放、可测试。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31720"/>
            <a:ext cx="5715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331720"/>
            <a:ext cx="473659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14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目标（本次开题交付）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92608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完成认证与权限边界（邮箱验证码 + JWT）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实现咨询对话（流式输出）与会话管理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输出风险提示/边界声明 + 审计日志落库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51560" y="4983480"/>
            <a:ext cx="5303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1389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非目标（明确不做）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541324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不承诺“万能回答”</a:t>
            </a:r>
            <a:endParaRPr lang="en-US" sz="13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不做复杂动画与花哨特效</a:t>
            </a:r>
            <a:endParaRPr lang="en-US" sz="13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不深度覆盖全部法律领域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514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组成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926080"/>
            <a:ext cx="43891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认证系统（邮箱验证码）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会话系统（sessions/messages）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咨询接口（/chat/stream）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日志审计（traceId）</a:t>
            </a:r>
            <a:endParaRPr lang="en-US" sz="1500" dirty="0"/>
          </a:p>
          <a:p>
            <a:pPr marL="190500" indent="-1905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基础管理（可选）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2331720"/>
            <a:ext cx="73152" cy="4251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486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// EQUIVOCAL_LEGAL // PROPOSAL_DEFENSE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04/10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一句话方案：把“咨询”工程化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前端负责体验，后端负责审计与持久化，AI 负责推理与生成，数据负责追溯与复盘。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6A5C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59975" y="1481328"/>
            <a:ext cx="1691640" cy="329184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06279" y="1545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END_TO_END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2514600"/>
            <a:ext cx="73152" cy="105156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24128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交互/UI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渲染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76524" y="2816352"/>
            <a:ext cx="32004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50844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50844" y="2514600"/>
            <a:ext cx="73152" cy="10515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52012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752012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鉴权/网关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审计落库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04408" y="2816352"/>
            <a:ext cx="32004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78728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78728" y="2514600"/>
            <a:ext cx="73152" cy="1051560"/>
          </a:xfrm>
          <a:prstGeom prst="rect">
            <a:avLst/>
          </a:prstGeom>
          <a:solidFill>
            <a:srgbClr val="6A5CFF"/>
          </a:solidFill>
          <a:ln w="12700">
            <a:solidFill>
              <a:srgbClr val="6A5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9896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479896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Agent/RAG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732291" y="2816352"/>
            <a:ext cx="32004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06611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06611" y="2514600"/>
            <a:ext cx="73152" cy="105156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07779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207779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2960" y="3977640"/>
            <a:ext cx="11475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22960" y="3977640"/>
            <a:ext cx="73152" cy="242316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" y="4160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发布会式口径（建议背诵）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24128" y="457200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我做的不是“聊天机器人”，而是一个“有边界、有日志、有验收口径”的咨询系统。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所有输出绑定会话，附带 traceId，便于复盘与评估。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可切换/可降级：默认可用 → 不可用时返回可执行的替代方案。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486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1920240" y="-1645920"/>
            <a:ext cx="5669280" cy="5669280"/>
          </a:xfrm>
          <a:prstGeom prst="ellipse">
            <a:avLst/>
          </a:prstGeom>
          <a:solidFill>
            <a:srgbClr val="2D6BFF">
              <a:alpha val="8000"/>
            </a:srgbClr>
          </a:solidFill>
          <a:ln w="12700">
            <a:solidFill>
              <a:srgbClr val="2D6B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solidFill>
            <a:srgbClr val="6A5CFF">
              <a:alpha val="7000"/>
            </a:srgbClr>
          </a:solidFill>
          <a:ln w="12700">
            <a:solidFill>
              <a:srgbClr val="6A5CFF">
                <a:alpha val="7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// EQUIVOCAL_LEGAL // PROPOSAL_DEFENSE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05/10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系统总体架构：四层拆分保证可控与可追溯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边界清晰：密钥/审计/存储在服务端，前端只保留体验逻辑。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2D6B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242316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2423160"/>
            <a:ext cx="73152" cy="109728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78408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/ UI / SSE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55848" y="2743200"/>
            <a:ext cx="384048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30168" y="242316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30168" y="2423160"/>
            <a:ext cx="73152" cy="10972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31336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后端核心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3831336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/ Auth / Audit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08776" y="2743200"/>
            <a:ext cx="384048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83096" y="242316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83096" y="2423160"/>
            <a:ext cx="73152" cy="1097280"/>
          </a:xfrm>
          <a:prstGeom prst="rect">
            <a:avLst/>
          </a:prstGeom>
          <a:solidFill>
            <a:srgbClr val="6A5CFF"/>
          </a:solidFill>
          <a:ln w="12700">
            <a:solidFill>
              <a:srgbClr val="6A5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84264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684264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RAG / Tools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061704" y="2743200"/>
            <a:ext cx="384048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36024" y="242316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36024" y="2423160"/>
            <a:ext cx="73152" cy="109728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37192" y="26060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9537192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Object / Vector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2960" y="3931920"/>
            <a:ext cx="11475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22960" y="3931920"/>
            <a:ext cx="73152" cy="2331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" y="41148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关键工程点（评审最关心）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24128" y="4526280"/>
            <a:ext cx="11155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统一鉴权与权限边界：避免前端直接暴露模型密钥与业务逻辑。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审计与追溯：所有请求/响应绑定 traceId，支持回放与验收。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可切换/可降级：AI 不可用时走规则化 fallback（降低失败成本）。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 // EQUIVOCAL_LEGAL // PROPOSAL_DEFENSE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核心模块与接口：工程实现如何落地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重点不是“能调通”，而是“可维护、可测试、可追溯”。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2D6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553212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77440"/>
            <a:ext cx="73152" cy="397764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60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模块拆分（Backend）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29718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Auth：邮箱验证码 / JWT / 角色权限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Session：会话创建/列表/删除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Chat：流式转发 / 限流 / 超时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Audit：traceId / 事件日志 / 关键字段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File（可选）：合同上传 / 解析入口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2377440"/>
            <a:ext cx="4736592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29400" y="2377440"/>
            <a:ext cx="73152" cy="3977640"/>
          </a:xfrm>
          <a:prstGeom prst="rect">
            <a:avLst/>
          </a:prstGeom>
          <a:solidFill>
            <a:srgbClr val="6A5CFF"/>
          </a:solidFill>
          <a:ln w="12700">
            <a:solidFill>
              <a:srgbClr val="6A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0568" y="25603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关键接口（示例）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971800"/>
            <a:ext cx="4343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/api/auth/code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/api/auth/login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/api/sessions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/api/chat/stream   (SSE)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/api/audit?traceId=…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489204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关键约束：所有返回都带 traceId；失败也要可追溯。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// EQUIVOCAL_LEGAL // PROPOSAL_DEFENSE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07/10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数据模型：让对话可追溯、可管理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开题阶段保持最小集合：users / sessions / messages / codes。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68880"/>
            <a:ext cx="31546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68880"/>
            <a:ext cx="73152" cy="187452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/ email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passwordHash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/ createdAt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2468880"/>
            <a:ext cx="31546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468880"/>
            <a:ext cx="73152" cy="18745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18888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/ userId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 / status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traceRoot / createdAt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2468880"/>
            <a:ext cx="31546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468880"/>
            <a:ext cx="73152" cy="1874520"/>
          </a:xfrm>
          <a:prstGeom prst="rect">
            <a:avLst/>
          </a:prstGeom>
          <a:solidFill>
            <a:srgbClr val="6A5CFF"/>
          </a:solidFill>
          <a:ln w="12700">
            <a:solidFill>
              <a:srgbClr val="6A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2651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3648" y="30632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/ sessionId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/ content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/ tokens / createdAt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315468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892040"/>
            <a:ext cx="73152" cy="1874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4128" y="5486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 / code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expiresAt / used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anti-abuse fields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4892040"/>
            <a:ext cx="6949440" cy="1874520"/>
          </a:xfrm>
          <a:prstGeom prst="roundRect">
            <a:avLst/>
          </a:prstGeom>
          <a:solidFill>
            <a:srgbClr val="F6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5074920"/>
            <a:ext cx="6629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追溯字段（关键）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18888" y="5440680"/>
            <a:ext cx="6629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traceRoot（会话级）  ·  traceId（消息级）  ·  provider/model（模型信息）  ·  latency/tokens（性能信息）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486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1920240" y="-1645920"/>
            <a:ext cx="5669280" cy="5669280"/>
          </a:xfrm>
          <a:prstGeom prst="ellipse">
            <a:avLst/>
          </a:prstGeom>
          <a:solidFill>
            <a:srgbClr val="2D6BFF">
              <a:alpha val="8000"/>
            </a:srgbClr>
          </a:solidFill>
          <a:ln w="12700">
            <a:solidFill>
              <a:srgbClr val="2D6B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solidFill>
            <a:srgbClr val="6A5CFF">
              <a:alpha val="7000"/>
            </a:srgbClr>
          </a:solidFill>
          <a:ln w="12700">
            <a:solidFill>
              <a:srgbClr val="6A5CFF">
                <a:alpha val="7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// EQUIVOCAL_LEGAL // PROPOSAL_DEFENSE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08/10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关键流程：一次咨询如何被记录与验收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主路径清晰 + 失败可降级，避免“不可控的黑盒”。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6A5C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2514600"/>
            <a:ext cx="73152" cy="105156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24128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问题/合同片段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脱敏（可选）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76524" y="2816352"/>
            <a:ext cx="32004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50844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50844" y="2514600"/>
            <a:ext cx="73152" cy="10515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52012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752012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鉴权/限流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风险提示模板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04408" y="2816352"/>
            <a:ext cx="32004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78728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78728" y="2514600"/>
            <a:ext cx="73152" cy="1051560"/>
          </a:xfrm>
          <a:prstGeom prst="rect">
            <a:avLst/>
          </a:prstGeom>
          <a:solidFill>
            <a:srgbClr val="6A5CFF"/>
          </a:solidFill>
          <a:ln w="12700">
            <a:solidFill>
              <a:srgbClr val="6A5C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9896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479896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推理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引用（可选）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732291" y="2816352"/>
            <a:ext cx="320040" cy="4572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06611" y="2514600"/>
            <a:ext cx="2362124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06611" y="2514600"/>
            <a:ext cx="73152" cy="105156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07779" y="2697480"/>
            <a:ext cx="20420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207779" y="3017520"/>
            <a:ext cx="20420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+ 免责声明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2960" y="3886200"/>
            <a:ext cx="114757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2960" y="3886200"/>
            <a:ext cx="73152" cy="2423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4128" y="4069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失败/降级策略（开题必须有）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005840" y="397764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上游模型不可用 → 返回“可执行的替代步骤”（例如：需要补充哪些事实）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输出不确定 → 强制提示边界 + 引导用户咨询专业律师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全链路写入审计日志：请求参数摘要、模型信息、latency、traceId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// EQUIVOCAL_LEGAL // PROPOSAL_DEFENSE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09/10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周计划：里程碑 + 验收口径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每一周都有可交付物；每个里程碑都能被验证。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02536"/>
            <a:ext cx="2377440" cy="0"/>
          </a:xfrm>
          <a:prstGeom prst="line">
            <a:avLst/>
          </a:prstGeom>
          <a:noFill/>
          <a:ln w="635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2002536"/>
            <a:ext cx="871697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64922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77440"/>
            <a:ext cx="73152" cy="39776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60320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里程碑（W1–W8）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2971800"/>
            <a:ext cx="6172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W1–W2：数据库 + 认证系统 + 基础前端框架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W3–W4：会话管理 + SSE 流式咨询接口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W5–W6：审计日志/追溯字段 + 可靠性（降级/限流）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W7：E2E 联调 + 关键场景用例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W8：论文撰写 + 答辩材料 + 演示打磨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43800" y="2377440"/>
            <a:ext cx="3822192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508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43800" y="2377440"/>
            <a:ext cx="73152" cy="3977640"/>
          </a:xfrm>
          <a:prstGeom prst="rect">
            <a:avLst/>
          </a:prstGeom>
          <a:solidFill>
            <a:srgbClr val="2D6BFF"/>
          </a:solidFill>
          <a:ln w="12700">
            <a:solidFill>
              <a:srgbClr val="2D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18120" y="292608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可用性：&gt; 99%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首字延迟：&lt; 2s（可调）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审计覆盖：100% 关键链路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追溯：traceId 可回放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26680" y="4251960"/>
            <a:ext cx="3520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4407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风险与对策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47548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幻觉：边界声明 +（可选）RAG 引用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稳定：超时/重试/降级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隐私：最小化存储 + 脱敏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486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6459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1945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2918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38912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3776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91695" cy="0"/>
          </a:xfrm>
          <a:prstGeom prst="line">
            <a:avLst/>
          </a:prstGeom>
          <a:noFill/>
          <a:ln w="4445">
            <a:solidFill>
              <a:srgbClr val="E2E8F0">
                <a:alpha val="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-1920240" y="-1645920"/>
            <a:ext cx="5669280" cy="5669280"/>
          </a:xfrm>
          <a:prstGeom prst="ellipse">
            <a:avLst/>
          </a:prstGeom>
          <a:solidFill>
            <a:srgbClr val="2D6BFF">
              <a:alpha val="8000"/>
            </a:srgbClr>
          </a:solidFill>
          <a:ln w="12700">
            <a:solidFill>
              <a:srgbClr val="2D6B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solidFill>
            <a:srgbClr val="6A5CFF">
              <a:alpha val="7000"/>
            </a:srgbClr>
          </a:solidFill>
          <a:ln w="12700">
            <a:solidFill>
              <a:srgbClr val="6A5CFF">
                <a:alpha val="7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256032"/>
            <a:ext cx="105457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Q&amp;A // EQUIVOCAL_LEGAL // PROPOSAL_DEFENSE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37215" y="2560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24231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&amp; A</a:t>
            </a:r>
            <a:endParaRPr lang="en-US" sz="8400" dirty="0"/>
          </a:p>
        </p:txBody>
      </p:sp>
      <p:sp>
        <p:nvSpPr>
          <p:cNvPr id="43" name="Text 41"/>
          <p:cNvSpPr/>
          <p:nvPr/>
        </p:nvSpPr>
        <p:spPr>
          <a:xfrm>
            <a:off x="822960" y="34290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欢迎提问：边界、追溯、验收口径。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（可放：Demo 地址 / GitHub / 联系方式）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Equivocal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Equivocal Legal 开题答辩</dc:title>
  <dc:subject>毕业设计开题答辩（Light Mode · 产品发布会风）</dc:subject>
  <dc:creator>Equivocal Legal</dc:creator>
  <cp:lastModifiedBy>Equivocal Legal</cp:lastModifiedBy>
  <cp:revision>1</cp:revision>
  <dcterms:created xsi:type="dcterms:W3CDTF">2026-01-10T01:40:03Z</dcterms:created>
  <dcterms:modified xsi:type="dcterms:W3CDTF">2026-01-10T01:40:03Z</dcterms:modified>
</cp:coreProperties>
</file>