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94015" y="-914400"/>
            <a:ext cx="5120640" cy="512064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2735" y="3566160"/>
            <a:ext cx="2926080" cy="292608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pic>
        <p:nvPicPr>
          <p:cNvPr id="5" name="Image 0" descr="D:\Equivocal_Java\public\placehol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68680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DEFENSE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105457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法律助手系统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971800"/>
            <a:ext cx="2926080" cy="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2918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学院/专业：__________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日期：____年__月__日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定位：咨询对话 + 合同审查 + 会话追溯（可扩展 RAG/OCR/文书生成）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法律服务的高门槛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信息不对称 + 成本不透明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801368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我们要做的不是“聊天”，而是把咨询流程变得可用、可控、可追溯。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04288"/>
            <a:ext cx="2377440" cy="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2304288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321045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48840"/>
            <a:ext cx="73152" cy="2926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313432"/>
            <a:ext cx="2890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获取建议成本高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697480"/>
            <a:ext cx="289041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价格/时间不可预期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普通用户缺乏入口与判断标准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（可替换：调研数据/案例）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0618" y="2148840"/>
            <a:ext cx="321045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0618" y="2148840"/>
            <a:ext cx="73152" cy="2926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1786" y="2313432"/>
            <a:ext cx="2890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合同风险难识别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1786" y="2697480"/>
            <a:ext cx="289041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条款专业、隐藏风险多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常见场景：违约/赔偿/争议条款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（可替换：风险点样例）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8277" y="2148840"/>
            <a:ext cx="321045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58277" y="2148840"/>
            <a:ext cx="73152" cy="2926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9445" y="2313432"/>
            <a:ext cx="2890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知识检索碎片化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9445" y="2697480"/>
            <a:ext cx="289041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法规/案例/流程分散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检索成本高、难以对齐语境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（可替换：知识库范围）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一句话机会：让用户在 3 分钟内得到“可执行的下一步”，并把对话沉淀为可追溯记录。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最小可交付闭环：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+ 咨询对话 + 会话追溯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801368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开题阶段先把“能用且可验收”做出来，再谈增强。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04288"/>
            <a:ext cx="2377440" cy="0"/>
          </a:xfrm>
          <a:prstGeom prst="line">
            <a:avLst/>
          </a:prstGeom>
          <a:noFill/>
          <a:ln w="635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2304288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623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2148840"/>
            <a:ext cx="473659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MVP（必须交付）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邮箱验证码注册/登录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鉴权与权限控制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咨询对话（支持流式）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会话列表/消息落库/删除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基础管理统计（可选）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331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增强项（可选）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7889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合同文件上传/解析（OCR）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RAG：引用法律知识库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文书生成（Word/PDF）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对象存储与向量库接入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更丰富的沉浸式动效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2148840"/>
            <a:ext cx="73152" cy="4343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148840"/>
            <a:ext cx="73152" cy="4343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用户旅程：把“咨询”变成一条可走通的路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53896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每一步都可解释：输入是什么、系统做了什么、结果怎么追溯。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2377440" cy="0"/>
          </a:xfrm>
          <a:prstGeom prst="line">
            <a:avLst/>
          </a:prstGeom>
          <a:noFill/>
          <a:ln w="635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5681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78024"/>
            <a:ext cx="10088575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40280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5000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258568"/>
            <a:ext cx="14233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登录/验证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496312"/>
            <a:ext cx="14233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邮箱验证码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7835" y="224028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7835" y="235000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72195" y="2258568"/>
            <a:ext cx="14233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选择服务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72195" y="2496312"/>
            <a:ext cx="14233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咨询/合同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场景化入口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6990" y="2240280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6990" y="235000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81350" y="2258568"/>
            <a:ext cx="14233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对话咨询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81350" y="2496312"/>
            <a:ext cx="14233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多轮问答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Streaming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96145" y="224028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145" y="235000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0505" y="2258568"/>
            <a:ext cx="14233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0505" y="2496312"/>
            <a:ext cx="14233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风险提示/建议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可下载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05300" y="2240280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5300" y="235000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99660" y="2258568"/>
            <a:ext cx="14233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历史追溯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99660" y="2496312"/>
            <a:ext cx="14233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会话列表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消息落库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3749040"/>
            <a:ext cx="114757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749040"/>
            <a:ext cx="73152" cy="2423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39136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我们的底线：不做“万能回答”，只输出“可执行的下一步”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4128" y="4297680"/>
            <a:ext cx="11155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输出加“风险提示模板”与“边界声明”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需要更高可信度时：使用 RAG 引用来源（可选）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所有结果绑定会话，便于复盘与验收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核心链路：前端 → 后端 → AI → 数据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53896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拆分的目的只有一个：把“可控与可审计”留在服务端，把“体验”留在前端。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2377440" cy="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5681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7744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77440"/>
            <a:ext cx="73152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542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前端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动效/3D/交互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128" y="2679192"/>
            <a:ext cx="41148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37744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77440"/>
            <a:ext cx="73152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2542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后端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67328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鉴权/落库/网关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9048" y="2679192"/>
            <a:ext cx="41148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37744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377440"/>
            <a:ext cx="73152" cy="10515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542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6248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/ LangGraph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87968" y="2679192"/>
            <a:ext cx="41148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237744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2377440"/>
            <a:ext cx="73152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5168" y="2542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45168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+（可选）R2/Vector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3886200"/>
            <a:ext cx="11475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3886200"/>
            <a:ext cx="73152" cy="2194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405079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为什么这样设计？（可当答辩口径）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" y="443484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后端统一鉴权与审计：避免前端直接暴露密钥与逻辑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AI 可切换/可降级：Coze 默认可用，自建 Agent 作为增强路线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会话落库：结果可追溯、可复盘、可验收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数据模型：让对话可追溯、可管理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53896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只保留最关键的 4 张表：users / sessions / messages / codes。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2377440" cy="0"/>
          </a:xfrm>
          <a:prstGeom prst="line">
            <a:avLst/>
          </a:prstGeom>
          <a:noFill/>
          <a:ln w="635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5681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32004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31720"/>
            <a:ext cx="73152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4963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8803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 (UNIQUE)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 (BCrypt)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role, email_verified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2004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331720"/>
            <a:ext cx="73152" cy="1874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4963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chat_sessions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64608" y="28803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(PK)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 (FK)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created_at, updated_at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331720"/>
            <a:ext cx="32004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331720"/>
            <a:ext cx="73152" cy="1874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24963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chat_messages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05088" y="28803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(AUTO)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 (FK)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content, content_type, created_at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0520" y="3044952"/>
            <a:ext cx="365760" cy="36576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3044952"/>
            <a:ext cx="365760" cy="36576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48056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480560"/>
            <a:ext cx="73152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64515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verification_codes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4128" y="502920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email, code, type(register/login)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expires_at, used, attempts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作用：降低垃圾注册，提高账号安全性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4480560"/>
            <a:ext cx="5577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0840" y="4480560"/>
            <a:ext cx="73152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22008" y="464515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验收点（开题阶段就能说清楚）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2008" y="502920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 AI 回复都能定位到 session + message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可按用户拉取历史会话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删除会话后数据一致性正确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三个难题，我们不绕弯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53896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把风险讲清楚，老师才会信你能做完。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2377440" cy="0"/>
          </a:xfrm>
          <a:prstGeom prst="line">
            <a:avLst/>
          </a:prstGeom>
          <a:noFill/>
          <a:ln w="635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5681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11475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496312"/>
            <a:ext cx="3291840" cy="713232"/>
          </a:xfrm>
          <a:prstGeom prst="roundRect">
            <a:avLst/>
          </a:prstGeom>
          <a:solidFill>
            <a:srgbClr val="EF4444">
              <a:alpha val="94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6090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问题：AI 输出不确定性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532888"/>
            <a:ext cx="7635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输出边界声明 + 风险提示模板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需要可信度：RAG 引用来源（可选）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会话落库，便于追责与复盘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11475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4005072"/>
            <a:ext cx="3291840" cy="713232"/>
          </a:xfrm>
          <a:prstGeom prst="roundRect">
            <a:avLst/>
          </a:prstGeom>
          <a:solidFill>
            <a:srgbClr val="F97316">
              <a:alpha val="94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16966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问题：LLM API 兼容性/稳定性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4041648"/>
            <a:ext cx="7635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超时/重试/降级：工具不可用时回退纯对话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Coze ↔ 自建 Agent 两条路线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接口层做适配，避免 UI 绑死供应商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257800"/>
            <a:ext cx="11475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5513832"/>
            <a:ext cx="3291840" cy="713232"/>
          </a:xfrm>
          <a:prstGeom prst="roundRect">
            <a:avLst/>
          </a:prstGeom>
          <a:solidFill>
            <a:srgbClr val="A855F7">
              <a:alpha val="94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67842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问题：隐私与安全（法律场景更敏感）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5550408"/>
            <a:ext cx="7635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 + 权限控制 + CORS 策略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敏感信息最小化存储/脱敏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文件上传权限控制（可选接 R2）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如何验收：指标 + 测试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53896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没有验收口径的项目就是“做着玩”。这里把口径提前写死。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2377440" cy="0"/>
          </a:xfrm>
          <a:prstGeom prst="line">
            <a:avLst/>
          </a:prstGeom>
          <a:noFill/>
          <a:ln w="635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5681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623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2148840"/>
            <a:ext cx="473659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指标（建议写进开题报告）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52578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核心接口成功率：≥ 99%（开发环境）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关键流程耗时：登录 → 发起咨询 → 落库 ≤ X 秒（自行定义）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RAG（可选）：命中率/相关性采用抽样人工评估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安全：未登录不可访问会话与上传接口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331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测试分层（从连通到端到端）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788920"/>
          <a:ext cx="4343400" cy="2148840"/>
        </p:xfrm>
        <a:graphic>
          <a:graphicData uri="http://schemas.openxmlformats.org/drawingml/2006/table">
            <a:tbl>
              <a:tblPr/>
              <a:tblGrid>
                <a:gridCol w="1188720"/>
                <a:gridCol w="3154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关注点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页面渲染/交互/错误提示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鉴权、会话接口、上传接口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对话/降级策略（工具不可用）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咨询→保存→历史追溯闭环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858000" y="50749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仓库证据：已存在连通性测试报告（前端/后端/AI Agent）。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计划：8 周推进，风险前置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53896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进度不是许愿，是拆任务、定验收、控范围。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2377440" cy="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5681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6446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里程碑（示例，可替换为课程周次/日期）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2880360"/>
            <a:ext cx="868680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971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W1–W2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2880360"/>
            <a:ext cx="4983480" cy="384048"/>
          </a:xfrm>
          <a:prstGeom prst="roundRect">
            <a:avLst/>
          </a:prstGeom>
          <a:solidFill>
            <a:srgbClr val="F97316">
              <a:alpha val="8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9718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需求/用例/原型 + 数据库设计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3566160"/>
            <a:ext cx="868680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6576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W3–W4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3566160"/>
            <a:ext cx="4983480" cy="384048"/>
          </a:xfrm>
          <a:prstGeom prst="roundRect">
            <a:avLst/>
          </a:prstGeom>
          <a:solidFill>
            <a:srgbClr val="0F172A">
              <a:alpha val="88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6576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后端：鉴权/会话/上传 + 基础联调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4251960"/>
            <a:ext cx="868680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43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W5–W6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4251960"/>
            <a:ext cx="4983480" cy="384048"/>
          </a:xfrm>
          <a:prstGeom prst="round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43434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接入：Coze 默认 + 降级策略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1560" y="4937760"/>
            <a:ext cx="868680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0292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4937760"/>
            <a:ext cx="4983480" cy="384048"/>
          </a:xfrm>
          <a:prstGeom prst="roundRect">
            <a:avLst/>
          </a:prstGeom>
          <a:solidFill>
            <a:srgbClr val="22C55E">
              <a:alpha val="8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50292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端到端测试 + 文档补齐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1560" y="5623560"/>
            <a:ext cx="868680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7150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5623560"/>
            <a:ext cx="4983480" cy="384048"/>
          </a:xfrm>
          <a:prstGeom prst="roundRect">
            <a:avLst/>
          </a:prstGeom>
          <a:solidFill>
            <a:srgbClr val="F97316">
              <a:alpha val="8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57150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演示材料/答辩彩排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52360" y="2148840"/>
            <a:ext cx="39136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风险（必须讲）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80960" y="2852928"/>
            <a:ext cx="345643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2852928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2990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不兼容/不稳定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1812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对策：降级 + 切换路线（Coze↔自建）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0" y="3995928"/>
            <a:ext cx="345643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3995928"/>
            <a:ext cx="73152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4133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范围膨胀导致延期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1812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对策：MVP 优先：认证+咨询+追溯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80960" y="5138928"/>
            <a:ext cx="345643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5138928"/>
            <a:ext cx="73152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5276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隐私与合规风险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1812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对策：最小化存储 + 权限控制 + 脱敏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2011680"/>
            <a:ext cx="5669280" cy="566928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-1188720"/>
            <a:ext cx="4023360" cy="4023360"/>
          </a:xfrm>
          <a:prstGeom prst="ellipse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谢谢。欢迎质疑我的边界与验收口径。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（联系信息/演示地址可放这里）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05895" y="64190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Equivocal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Equivocal Legal 开题答辩</dc:title>
  <dc:subject>开题答辩（方案B：重叙事重设计）</dc:subject>
  <dc:creator>Equivocal Legal</dc:creator>
  <cp:lastModifiedBy>Equivocal Legal</cp:lastModifiedBy>
  <cp:revision>1</cp:revision>
  <dcterms:created xsi:type="dcterms:W3CDTF">2026-01-07T14:11:34Z</dcterms:created>
  <dcterms:modified xsi:type="dcterms:W3CDTF">2026-01-07T14:11:34Z</dcterms:modified>
</cp:coreProperties>
</file>