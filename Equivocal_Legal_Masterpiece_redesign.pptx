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142107"/>
            <a:ext cx="1498848" cy="228600"/>
          </a:xfrm>
          <a:prstGeom prst="roundRect">
            <a:avLst>
              <a:gd name="adj" fmla="val 41662500"/>
            </a:avLst>
          </a:prstGeom>
          <a:solidFill>
            <a:srgbClr val="EEF2FF"/>
          </a:solidFill>
          <a:ln w="9525">
            <a:solidFill>
              <a:srgbClr val="E0E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85775" y="1189732"/>
            <a:ext cx="1315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 DEFENSE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1000" y="1675507"/>
            <a:ext cx="8549640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Equivocal Legal
</a:t>
            </a:r>
            <a:pPr algn="l" indent="0" marL="0">
              <a:lnSpc>
                <a:spcPts val="4620"/>
              </a:lnSpc>
              <a:buNone/>
            </a:pPr>
            <a:r>
              <a:rPr lang="en-US" sz="36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法律助手系统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81000" y="3420368"/>
            <a:ext cx="322554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81000" y="3577530"/>
            <a:ext cx="3225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[姓名/Name]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3853755"/>
            <a:ext cx="322554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计算机科学与技术学院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924300" y="3420368"/>
            <a:ext cx="322554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924300" y="3577530"/>
            <a:ext cx="3225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[导师/Advisor]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24300" y="3853755"/>
            <a:ext cx="322554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副教授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650802"/>
            <a:ext cx="598289" cy="228600"/>
          </a:xfrm>
          <a:prstGeom prst="roundRect">
            <a:avLst>
              <a:gd name="adj" fmla="val 41662500"/>
            </a:avLst>
          </a:prstGeom>
          <a:solidFill>
            <a:srgbClr val="EEF2FF"/>
          </a:solidFill>
          <a:ln w="9525">
            <a:solidFill>
              <a:srgbClr val="E0E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85775" y="1698427"/>
            <a:ext cx="396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痛点分析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1000" y="1993702"/>
            <a:ext cx="3426232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800"/>
              </a:spcAft>
              <a:buNone/>
            </a:pPr>
            <a:r>
              <a:rPr lang="en-US" sz="24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法律服务的</a:t>
            </a:r>
            <a:endParaRPr lang="en-US" sz="2400" dirty="0"/>
          </a:p>
          <a:p>
            <a:pPr algn="l" indent="0" marL="0">
              <a:lnSpc>
                <a:spcPts val="2880"/>
              </a:lnSpc>
              <a:spcAft>
                <a:spcPts val="1800"/>
              </a:spcAft>
              <a:buNone/>
            </a:pPr>
            <a:r>
              <a:rPr lang="en-US" sz="24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“高妙”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3096518"/>
            <a:ext cx="3426232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125"/>
              </a:spcBef>
              <a:buNone/>
            </a:pPr>
            <a:r>
              <a:rPr lang="en-US" sz="975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普通用户面临的三重困境：
</a:t>
            </a:r>
            <a:pPr algn="l" indent="0" marL="0">
              <a:lnSpc>
                <a:spcPts val="1560"/>
              </a:lnSpc>
              <a:spcBef>
                <a:spcPts val="1125"/>
              </a:spcBef>
              <a:buNone/>
            </a:pPr>
            <a:r>
              <a:rPr lang="en-US" sz="975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信息不对称 + 成本不透明 + 知识碎片化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968651" y="190500"/>
            <a:ext cx="4794200" cy="1492151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06776" y="428625"/>
            <a:ext cx="44043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成本高昂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776" y="704850"/>
            <a:ext cx="440430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专业咨询动辄按小时计费，普通人难以承担。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968651" y="1825526"/>
            <a:ext cx="4794200" cy="1492300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06776" y="2063651"/>
            <a:ext cx="44043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风险盲区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776" y="2339876"/>
            <a:ext cx="440430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合同条款晦涩难懂，陷阱往往隐藏在“专业术语”之后。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968651" y="3460700"/>
            <a:ext cx="4794200" cy="1492300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06776" y="3698825"/>
            <a:ext cx="44043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检索困难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776" y="3975050"/>
            <a:ext cx="440430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法条、案任分散在不同平台，非专业人士无法有效对齐语境。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90500"/>
            <a:ext cx="12312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项目范围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803952" y="399008"/>
            <a:ext cx="97822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MVP 到 演进路线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841921"/>
            <a:ext cx="2641550" cy="4111079"/>
          </a:xfrm>
          <a:prstGeom prst="roundRect">
            <a:avLst>
              <a:gd name="adj" fmla="val 5769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>
            <a:outerShdw sx="100000" sy="100000" kx="0" ky="0" algn="bl" rotWithShape="0" blurRad="142875" dist="95250" dir="5400000">
              <a:srgbClr val="4f46e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1080046"/>
            <a:ext cx="940891" cy="228600"/>
          </a:xfrm>
          <a:prstGeom prst="roundRect">
            <a:avLst>
              <a:gd name="adj" fmla="val 41662500"/>
            </a:avLst>
          </a:prstGeom>
          <a:solidFill>
            <a:srgbClr val="EEF2FF"/>
          </a:solidFill>
          <a:ln w="9525">
            <a:solidFill>
              <a:srgbClr val="E0E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127671"/>
            <a:ext cx="7459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核心交付 (MVP)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19125" y="1422946"/>
            <a:ext cx="2208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毕业设计底线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125" y="2080171"/>
            <a:ext cx="216530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125" y="1842046"/>
            <a:ext cx="22086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[√] 邮箱验证/JWT 鉴权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619125" y="2418308"/>
            <a:ext cx="216530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125" y="2180183"/>
            <a:ext cx="22086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[√] 咨询对话 (Streaming)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619125" y="2756446"/>
            <a:ext cx="216530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125" y="2518321"/>
            <a:ext cx="22086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[√] 会话管理与落库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619125" y="3094583"/>
            <a:ext cx="216530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125" y="2856458"/>
            <a:ext cx="22086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[√] 基础审计日志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251150" y="841921"/>
            <a:ext cx="2641550" cy="4111079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89275" y="1080046"/>
            <a:ext cx="598289" cy="228600"/>
          </a:xfrm>
          <a:prstGeom prst="roundRect">
            <a:avLst>
              <a:gd name="adj" fmla="val 41662500"/>
            </a:avLst>
          </a:prstGeom>
          <a:solidFill>
            <a:srgbClr val="F3F4F6"/>
          </a:solidFill>
          <a:ln w="9525">
            <a:solidFill>
              <a:srgbClr val="F9FA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94050" y="1127671"/>
            <a:ext cx="396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增强特性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489275" y="1422946"/>
            <a:ext cx="2208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进阶目标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89275" y="2080171"/>
            <a:ext cx="216530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9275" y="1842046"/>
            <a:ext cx="22086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合同 OCR 解析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3489275" y="2418308"/>
            <a:ext cx="216530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89275" y="2180183"/>
            <a:ext cx="22086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RAG 知识库挂载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3489275" y="2756446"/>
            <a:ext cx="216530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9275" y="2518321"/>
            <a:ext cx="22086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文书 PDF 导出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121301" y="841921"/>
            <a:ext cx="2641550" cy="4111079"/>
          </a:xfrm>
          <a:prstGeom prst="roundRect">
            <a:avLst>
              <a:gd name="adj" fmla="val 4327"/>
            </a:avLst>
          </a:prstGeom>
          <a:noFill/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36796" y="2462213"/>
            <a:ext cx="10104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36796" y="2738438"/>
            <a:ext cx="1010412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不只是“聊天”</a:t>
            </a:r>
            <a:endParaRPr lang="en-US" sz="975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</a:t>
            </a:r>
            <a:endParaRPr lang="en-US" sz="975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可追溯的咨询服务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90500"/>
            <a:ext cx="854964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用户旅程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618357"/>
            <a:ext cx="1388864" cy="2500908"/>
          </a:xfrm>
          <a:prstGeom prst="roundRect">
            <a:avLst>
              <a:gd name="adj" fmla="val 1097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41524" y="1723132"/>
            <a:ext cx="3834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9125" y="1856482"/>
            <a:ext cx="930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9125" y="3566815"/>
            <a:ext cx="93086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邮箱验证码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 Session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912739" y="2768798"/>
            <a:ext cx="751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29284" y="1618357"/>
            <a:ext cx="1388864" cy="2500908"/>
          </a:xfrm>
          <a:prstGeom prst="roundRect">
            <a:avLst>
              <a:gd name="adj" fmla="val 1097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89808" y="1723132"/>
            <a:ext cx="3834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67409" y="1856482"/>
            <a:ext cx="930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67409" y="3566815"/>
            <a:ext cx="93086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日常咨询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合同审查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661023" y="2768798"/>
            <a:ext cx="751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77568" y="1305818"/>
            <a:ext cx="1388864" cy="3126135"/>
          </a:xfrm>
          <a:prstGeom prst="roundRect">
            <a:avLst>
              <a:gd name="adj" fmla="val 10973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>
            <a:outerShdw sx="100000" sy="100000" kx="0" ky="0" algn="bl" rotWithShape="0" blurRad="142875" dist="95250" dir="5400000">
              <a:srgbClr val="4f46e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38092" y="1410593"/>
            <a:ext cx="3834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5693" y="1543943"/>
            <a:ext cx="930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5693" y="3722340"/>
            <a:ext cx="93086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推理帕机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流式响应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409307" y="2768798"/>
            <a:ext cx="751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5852" y="1618357"/>
            <a:ext cx="1388864" cy="2500908"/>
          </a:xfrm>
          <a:prstGeom prst="roundRect">
            <a:avLst>
              <a:gd name="adj" fmla="val 1097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86376" y="1723132"/>
            <a:ext cx="3834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863977" y="1856482"/>
            <a:ext cx="930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63977" y="3566815"/>
            <a:ext cx="93086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文档生成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157591" y="2768798"/>
            <a:ext cx="751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74136" y="1618357"/>
            <a:ext cx="1388864" cy="2500908"/>
          </a:xfrm>
          <a:prstGeom prst="roundRect">
            <a:avLst>
              <a:gd name="adj" fmla="val 1097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234660" y="1723132"/>
            <a:ext cx="3834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612261" y="1856482"/>
            <a:ext cx="930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12261" y="3566815"/>
            <a:ext cx="93086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历史记录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服务审计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90500"/>
            <a:ext cx="12312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784771"/>
            <a:ext cx="85494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关注点分离：体验 (前端) 与 审计 (后端)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1809155"/>
            <a:ext cx="1924050" cy="3143845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2047280"/>
            <a:ext cx="501104" cy="228600"/>
          </a:xfrm>
          <a:prstGeom prst="roundRect">
            <a:avLst>
              <a:gd name="adj" fmla="val 41662500"/>
            </a:avLst>
          </a:prstGeom>
          <a:solidFill>
            <a:srgbClr val="F3F4F6"/>
          </a:solidFill>
          <a:ln w="9525">
            <a:solidFill>
              <a:srgbClr val="F9FA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2094905"/>
            <a:ext cx="297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19125" y="2390180"/>
            <a:ext cx="14767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9125" y="2856905"/>
            <a:ext cx="1447800" cy="95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9125" y="3056930"/>
            <a:ext cx="1447800" cy="67419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交互式 UI (Tailwind)</a:t>
            </a:r>
            <a:endParaRPr lang="en-US" sz="825" dirty="0"/>
          </a:p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3D/动效渲染</a:t>
            </a:r>
            <a:endParaRPr lang="en-US" sz="825" dirty="0"/>
          </a:p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流式处理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732038" y="3257252"/>
            <a:ext cx="939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51150" y="1809155"/>
            <a:ext cx="2641550" cy="3143845"/>
          </a:xfrm>
          <a:prstGeom prst="roundRect">
            <a:avLst>
              <a:gd name="adj" fmla="val 5769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>
            <a:outerShdw sx="100000" sy="100000" kx="0" ky="0" algn="bl" rotWithShape="0" blurRad="142875" dist="95250" dir="5400000">
              <a:srgbClr val="4f46e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275" y="2047280"/>
            <a:ext cx="598289" cy="228600"/>
          </a:xfrm>
          <a:prstGeom prst="roundRect">
            <a:avLst>
              <a:gd name="adj" fmla="val 41662500"/>
            </a:avLst>
          </a:prstGeom>
          <a:solidFill>
            <a:srgbClr val="EEF2FF"/>
          </a:solidFill>
          <a:ln w="9525">
            <a:solidFill>
              <a:srgbClr val="E0E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4050" y="2094905"/>
            <a:ext cx="396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后端核心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89275" y="2390180"/>
            <a:ext cx="2208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Spring Boot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89275" y="2856905"/>
            <a:ext cx="2165300" cy="95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9275" y="3056930"/>
            <a:ext cx="2165300" cy="67419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统一鉴权 (Security)</a:t>
            </a:r>
            <a:endParaRPr lang="en-US" sz="825" dirty="0"/>
          </a:p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会话状态管理</a:t>
            </a:r>
            <a:endParaRPr lang="en-US" sz="825" dirty="0"/>
          </a:p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审计与持久化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319689" y="3257252"/>
            <a:ext cx="939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38801" y="1809155"/>
            <a:ext cx="1924050" cy="1500485"/>
          </a:xfrm>
          <a:prstGeom prst="roundRect">
            <a:avLst>
              <a:gd name="adj" fmla="val 101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76926" y="2047280"/>
            <a:ext cx="541586" cy="228600"/>
          </a:xfrm>
          <a:prstGeom prst="roundRect">
            <a:avLst>
              <a:gd name="adj" fmla="val 41662500"/>
            </a:avLst>
          </a:prstGeom>
          <a:solidFill>
            <a:srgbClr val="F3F4F6"/>
          </a:solidFill>
          <a:ln w="9525">
            <a:solidFill>
              <a:srgbClr val="F9FA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81701" y="2094905"/>
            <a:ext cx="3386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076926" y="2390180"/>
            <a:ext cx="14767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 / Agent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76926" y="2666405"/>
            <a:ext cx="14767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推理与编排帕机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838801" y="3452515"/>
            <a:ext cx="1924050" cy="1500485"/>
          </a:xfrm>
          <a:prstGeom prst="roundRect">
            <a:avLst>
              <a:gd name="adj" fmla="val 101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76926" y="3690640"/>
            <a:ext cx="501104" cy="228600"/>
          </a:xfrm>
          <a:prstGeom prst="roundRect">
            <a:avLst>
              <a:gd name="adj" fmla="val 41662500"/>
            </a:avLst>
          </a:prstGeom>
          <a:solidFill>
            <a:srgbClr val="F3F4F6"/>
          </a:solidFill>
          <a:ln w="9525">
            <a:solidFill>
              <a:srgbClr val="F9FA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81701" y="3738265"/>
            <a:ext cx="297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076926" y="4033540"/>
            <a:ext cx="14767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76926" y="4309765"/>
            <a:ext cx="14767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业务数据持久化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90500"/>
            <a:ext cx="854964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784771"/>
            <a:ext cx="1924050" cy="4168229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9125" y="1022896"/>
            <a:ext cx="14767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9125" y="1375321"/>
            <a:ext cx="1447800" cy="95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9125" y="1461046"/>
            <a:ext cx="1476756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ID (PK)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EMAIL (UQ)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PASSWORD_HASH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ROLE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VERIFIED_AT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533650" y="784771"/>
            <a:ext cx="1924050" cy="4168229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71775" y="1022896"/>
            <a:ext cx="14767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71775" y="1375321"/>
            <a:ext cx="1447800" cy="95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71775" y="1461046"/>
            <a:ext cx="1476756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ID (PK)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USER_ID (FK)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TITLE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CONTEXT_META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CREATED_AT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686300" y="784771"/>
            <a:ext cx="1924050" cy="4168229"/>
          </a:xfrm>
          <a:prstGeom prst="roundRect">
            <a:avLst>
              <a:gd name="adj" fmla="val 7921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>
            <a:outerShdw sx="100000" sy="100000" kx="0" ky="0" algn="bl" rotWithShape="0" blurRad="142875" dist="95250" dir="5400000">
              <a:srgbClr val="4f46e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24425" y="1022896"/>
            <a:ext cx="14767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24425" y="1375321"/>
            <a:ext cx="1447800" cy="95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24425" y="1461046"/>
            <a:ext cx="1476756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242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ID (PK)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242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SESSION_ID (FK)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242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ROLE (USER/AI)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242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CONTENT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242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TYPE (TXT/IMG)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24245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CREATED_AT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838950" y="784771"/>
            <a:ext cx="1924050" cy="4168229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77075" y="1022896"/>
            <a:ext cx="14767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77075" y="1375321"/>
            <a:ext cx="1447800" cy="95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77075" y="1461046"/>
            <a:ext cx="147675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EMAIL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CODE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EXPIRES_AT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ATTEMPTS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90500"/>
            <a:ext cx="215456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工程挑战与应对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06327"/>
            <a:ext cx="2641550" cy="3146673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9125" y="2044452"/>
            <a:ext cx="555427" cy="228600"/>
          </a:xfrm>
          <a:prstGeom prst="roundRect">
            <a:avLst>
              <a:gd name="adj" fmla="val 41662500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900" y="2092077"/>
            <a:ext cx="352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01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19125" y="2387352"/>
            <a:ext cx="2208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幻觉风险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9125" y="2854077"/>
            <a:ext cx="2165300" cy="95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3054102"/>
            <a:ext cx="220860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法律建议具有严肃性，AI 可能生成似是而非的错误结论。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19125" y="4243388"/>
            <a:ext cx="22086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19125" y="4400550"/>
            <a:ext cx="22086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严格的 System Prompt 边界 + 风险免责声明 + RAG 来源引用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251150" y="1806327"/>
            <a:ext cx="2641550" cy="3146673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89275" y="2044452"/>
            <a:ext cx="555427" cy="228600"/>
          </a:xfrm>
          <a:prstGeom prst="roundRect">
            <a:avLst>
              <a:gd name="adj" fmla="val 41662500"/>
            </a:avLst>
          </a:prstGeom>
          <a:solidFill>
            <a:srgbClr val="F3F4F6"/>
          </a:solidFill>
          <a:ln w="9525">
            <a:solidFill>
              <a:srgbClr val="F9FA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4050" y="2092077"/>
            <a:ext cx="352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02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89275" y="2387352"/>
            <a:ext cx="2208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服务稳定性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89275" y="2854077"/>
            <a:ext cx="2165300" cy="95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9275" y="3054102"/>
            <a:ext cx="220860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上游大模型 API 可能存在延迟或不可用。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3489275" y="4400550"/>
            <a:ext cx="22086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489275" y="4557713"/>
            <a:ext cx="22086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多供应商降级策略 + 异步流式响应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121301" y="1806327"/>
            <a:ext cx="2641550" cy="3146673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59426" y="2044452"/>
            <a:ext cx="555427" cy="228600"/>
          </a:xfrm>
          <a:prstGeom prst="roundRect">
            <a:avLst>
              <a:gd name="adj" fmla="val 41662500"/>
            </a:avLst>
          </a:prstGeom>
          <a:solidFill>
            <a:srgbClr val="F3F4F6"/>
          </a:solidFill>
          <a:ln w="9525">
            <a:solidFill>
              <a:srgbClr val="F9FA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64201" y="2092077"/>
            <a:ext cx="3527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 03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59426" y="2387352"/>
            <a:ext cx="2208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隐私安全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9426" y="2854077"/>
            <a:ext cx="2165300" cy="95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59426" y="3054102"/>
            <a:ext cx="220860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用户上传的合同可能包含敏感信息。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6359426" y="4243388"/>
            <a:ext cx="220860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对策：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359426" y="4400550"/>
            <a:ext cx="22086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数据最小化储存 + 敏感字段脱敏 + 临时文件定期清理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90500"/>
            <a:ext cx="854964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784771"/>
            <a:ext cx="4076700" cy="4168229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9125" y="1022896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9125" y="1722983"/>
            <a:ext cx="36004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9125" y="1442889"/>
            <a:ext cx="61966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可用性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89623" y="1441996"/>
            <a:ext cx="3365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125" y="2151608"/>
            <a:ext cx="36004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125" y="1871514"/>
            <a:ext cx="757809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首字响应耗时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888879" y="1870621"/>
            <a:ext cx="3373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2s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125" y="2580233"/>
            <a:ext cx="3600450" cy="0"/>
          </a:xfrm>
          <a:prstGeom prst="line">
            <a:avLst/>
          </a:prstGeom>
          <a:noFill/>
          <a:ln w="9525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125" y="2300139"/>
            <a:ext cx="8841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会话审计覆盖率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795713" y="2299246"/>
            <a:ext cx="432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6300" y="784771"/>
            <a:ext cx="4076700" cy="4168229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24425" y="1022896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测试策略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4425" y="1441996"/>
            <a:ext cx="1762125" cy="1598265"/>
          </a:xfrm>
          <a:prstGeom prst="roundRect">
            <a:avLst>
              <a:gd name="adj" fmla="val 4768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38725" y="1556296"/>
            <a:ext cx="156419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038725" y="1713458"/>
            <a:ext cx="156419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 / 工具类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762750" y="1441996"/>
            <a:ext cx="1762125" cy="1598265"/>
          </a:xfrm>
          <a:prstGeom prst="roundRect">
            <a:avLst>
              <a:gd name="adj" fmla="val 4768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77050" y="1556296"/>
            <a:ext cx="156419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集成测试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877050" y="1713458"/>
            <a:ext cx="156419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&lt;-&gt; AI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924425" y="3116461"/>
            <a:ext cx="1762125" cy="1598414"/>
          </a:xfrm>
          <a:prstGeom prst="roundRect">
            <a:avLst>
              <a:gd name="adj" fmla="val 4767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38725" y="3230761"/>
            <a:ext cx="156419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038725" y="3387923"/>
            <a:ext cx="156419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全链路流程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762750" y="3116461"/>
            <a:ext cx="1762125" cy="1598414"/>
          </a:xfrm>
          <a:prstGeom prst="roundRect">
            <a:avLst>
              <a:gd name="adj" fmla="val 4767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77050" y="3230761"/>
            <a:ext cx="156419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人工验收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877050" y="3387923"/>
            <a:ext cx="156419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法律建议合规性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90500"/>
            <a:ext cx="854964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执行计划 (8周)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784771"/>
            <a:ext cx="1988344" cy="4168229"/>
          </a:xfrm>
          <a:prstGeom prst="roundRect">
            <a:avLst>
              <a:gd name="adj" fmla="val 766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9125" y="1022896"/>
            <a:ext cx="478780" cy="228600"/>
          </a:xfrm>
          <a:prstGeom prst="roundRect">
            <a:avLst>
              <a:gd name="adj" fmla="val 41662500"/>
            </a:avLst>
          </a:prstGeom>
          <a:solidFill>
            <a:srgbClr val="F3F4F6"/>
          </a:solidFill>
          <a:ln w="9525">
            <a:solidFill>
              <a:srgbClr val="F9FA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900" y="1070521"/>
            <a:ext cx="274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W1-2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19125" y="1365796"/>
            <a:ext cx="15423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9125" y="1718221"/>
            <a:ext cx="1512094" cy="61704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825" dirty="0"/>
          </a:p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认证系统</a:t>
            </a:r>
            <a:endParaRPr lang="en-US" sz="825" dirty="0"/>
          </a:p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前端框架搭建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512219" y="784771"/>
            <a:ext cx="1988344" cy="4168229"/>
          </a:xfrm>
          <a:prstGeom prst="roundRect">
            <a:avLst>
              <a:gd name="adj" fmla="val 7665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>
            <a:outerShdw sx="100000" sy="100000" kx="0" ky="0" algn="bl" rotWithShape="0" blurRad="142875" dist="95250" dir="5400000">
              <a:srgbClr val="4f46e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50344" y="1022896"/>
            <a:ext cx="478780" cy="228600"/>
          </a:xfrm>
          <a:prstGeom prst="roundRect">
            <a:avLst>
              <a:gd name="adj" fmla="val 41662500"/>
            </a:avLst>
          </a:prstGeom>
          <a:solidFill>
            <a:srgbClr val="EEF2FF"/>
          </a:solidFill>
          <a:ln w="9525">
            <a:solidFill>
              <a:srgbClr val="E0E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55119" y="1070521"/>
            <a:ext cx="274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W3-4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50344" y="1365796"/>
            <a:ext cx="15423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后端核心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50344" y="1718221"/>
            <a:ext cx="1512094" cy="61704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接口开发</a:t>
            </a:r>
            <a:endParaRPr lang="en-US" sz="825" dirty="0"/>
          </a:p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会话管理逻辑</a:t>
            </a:r>
            <a:endParaRPr lang="en-US" sz="825" dirty="0"/>
          </a:p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文件上传服务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643438" y="784771"/>
            <a:ext cx="1988344" cy="4168229"/>
          </a:xfrm>
          <a:prstGeom prst="roundRect">
            <a:avLst>
              <a:gd name="adj" fmla="val 766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81563" y="1022896"/>
            <a:ext cx="478780" cy="228600"/>
          </a:xfrm>
          <a:prstGeom prst="roundRect">
            <a:avLst>
              <a:gd name="adj" fmla="val 41662500"/>
            </a:avLst>
          </a:prstGeom>
          <a:solidFill>
            <a:srgbClr val="F3F4F6"/>
          </a:solidFill>
          <a:ln w="9525">
            <a:solidFill>
              <a:srgbClr val="F9FA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86338" y="1070521"/>
            <a:ext cx="274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W5-6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81563" y="1365796"/>
            <a:ext cx="15423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接入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81563" y="1718221"/>
            <a:ext cx="1512094" cy="61704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对接</a:t>
            </a:r>
            <a:endParaRPr lang="en-US" sz="825" dirty="0"/>
          </a:p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流式响应调试</a:t>
            </a:r>
            <a:endParaRPr lang="en-US" sz="825" dirty="0"/>
          </a:p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提示词调优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774656" y="784771"/>
            <a:ext cx="1988344" cy="4168229"/>
          </a:xfrm>
          <a:prstGeom prst="roundRect">
            <a:avLst>
              <a:gd name="adj" fmla="val 766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12781" y="1022896"/>
            <a:ext cx="478780" cy="228600"/>
          </a:xfrm>
          <a:prstGeom prst="roundRect">
            <a:avLst>
              <a:gd name="adj" fmla="val 41662500"/>
            </a:avLst>
          </a:prstGeom>
          <a:solidFill>
            <a:srgbClr val="F3F4F6"/>
          </a:solidFill>
          <a:ln w="9525">
            <a:solidFill>
              <a:srgbClr val="F9FAF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17556" y="1070521"/>
            <a:ext cx="274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W7-8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012781" y="1365796"/>
            <a:ext cx="15423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2781" y="1718221"/>
            <a:ext cx="1512094" cy="61704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全链路测试</a:t>
            </a:r>
            <a:endParaRPr lang="en-US" sz="825" dirty="0"/>
          </a:p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文档撰写</a:t>
            </a:r>
            <a:endParaRPr lang="en-US" sz="825" dirty="0"/>
          </a:p>
          <a:p>
            <a:pPr algn="l" marL="85725" indent="-85725">
              <a:lnSpc>
                <a:spcPts val="1320"/>
              </a:lnSpc>
              <a:spcAft>
                <a:spcPts val="450"/>
              </a:spcAft>
              <a:buSzPct val="100000"/>
              <a:buChar char="•"/>
            </a:pPr>
            <a:r>
              <a:rPr lang="en-US" sz="825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答辩准备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7853" y="1940272"/>
            <a:ext cx="1619908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162425" y="2812703"/>
            <a:ext cx="819150" cy="276225"/>
          </a:xfrm>
          <a:prstGeom prst="roundRect">
            <a:avLst>
              <a:gd name="adj" fmla="val 34479310"/>
            </a:avLst>
          </a:prstGeom>
          <a:solidFill>
            <a:srgbClr val="EEF2FF"/>
          </a:solidFill>
          <a:ln w="9525">
            <a:solidFill>
              <a:srgbClr val="E0E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67200" y="2860328"/>
            <a:ext cx="621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2026-01-08T05:51:26Z</dcterms:created>
  <dcterms:modified xsi:type="dcterms:W3CDTF">2026-01-08T05:51:26Z</dcterms:modified>
</cp:coreProperties>
</file>